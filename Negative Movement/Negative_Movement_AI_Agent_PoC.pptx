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Di Monaco" userId="da790a1f-fe0f-489b-94e0-e749ffc393b9" providerId="ADAL" clId="{D7EB1E12-19DD-4598-BE74-AF085BF7DC68}"/>
    <pc:docChg chg="modSld">
      <pc:chgData name="Joe Di Monaco" userId="da790a1f-fe0f-489b-94e0-e749ffc393b9" providerId="ADAL" clId="{D7EB1E12-19DD-4598-BE74-AF085BF7DC68}" dt="2026-06-05T00:33:59.824" v="15" actId="20577"/>
      <pc:docMkLst>
        <pc:docMk/>
      </pc:docMkLst>
      <pc:sldChg chg="modSp mod">
        <pc:chgData name="Joe Di Monaco" userId="da790a1f-fe0f-489b-94e0-e749ffc393b9" providerId="ADAL" clId="{D7EB1E12-19DD-4598-BE74-AF085BF7DC68}" dt="2026-06-05T00:33:59.824" v="15" actId="20577"/>
        <pc:sldMkLst>
          <pc:docMk/>
          <pc:sldMk cId="0" sldId="260"/>
        </pc:sldMkLst>
        <pc:spChg chg="mod">
          <ac:chgData name="Joe Di Monaco" userId="da790a1f-fe0f-489b-94e0-e749ffc393b9" providerId="ADAL" clId="{D7EB1E12-19DD-4598-BE74-AF085BF7DC68}" dt="2026-06-05T00:33:23.572" v="0" actId="6549"/>
          <ac:spMkLst>
            <pc:docMk/>
            <pc:sldMk cId="0" sldId="260"/>
            <ac:spMk id="24" creationId="{00000000-0000-0000-0000-000000000000}"/>
          </ac:spMkLst>
        </pc:spChg>
        <pc:spChg chg="mod">
          <ac:chgData name="Joe Di Monaco" userId="da790a1f-fe0f-489b-94e0-e749ffc393b9" providerId="ADAL" clId="{D7EB1E12-19DD-4598-BE74-AF085BF7DC68}" dt="2026-06-05T00:33:59.824" v="15" actId="20577"/>
          <ac:spMkLst>
            <pc:docMk/>
            <pc:sldMk cId="0" sldId="260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4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1280160" cy="12801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A896"/>
                </a:solidFill>
              </a:rPr>
              <a:t>EOM Agent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Negative Movement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Report Automation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Proof of Concept — Branch SY1 · April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914400"/>
            <a:ext cx="2377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6446520" y="960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A896"/>
                </a:solidFill>
              </a:rPr>
              <a:t>8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4652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jobs queried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2240280"/>
            <a:ext cx="2377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64465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A896"/>
                </a:solidFill>
              </a:rPr>
              <a:t>5/8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446520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auto-resolved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566160"/>
            <a:ext cx="2377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64465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A896"/>
                </a:solidFill>
              </a:rPr>
              <a:t>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44652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ops notified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</a:rPr>
              <a:t>Month-end reporting is manual, slow, and error-prone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Manual report generation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286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Finance team manually downloads the Negative Movement Report from CargoWise at month-end and formats it across 3 tabs.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8745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94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Manual email distribution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94960" y="2286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Each queried job is manually emailed to the relevant operator or ops manager for explanation — no tracking, no workflow.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291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118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No audit trail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5840" y="3703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Responses come back via email with no central record. Finance must reconcile responses manually against the spreadsheet.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3291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118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High false-positive volume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94960" y="3703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Consolidation parent jobs flood the report. Previously resolved with a billing-screen workaround — but not systematised.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CURRENT PROCESS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0"/>
                </a:solidFill>
              </a:rPr>
              <a:t>How finance manages the report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17220" y="1691640"/>
            <a:ext cx="105156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918972" y="176479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18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EOM close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CargoWise locks the period</a:t>
            </a:r>
            <a:endParaRPr lang="en-US" sz="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039112"/>
            <a:ext cx="73152" cy="731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760220" y="1691640"/>
            <a:ext cx="105156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2061972" y="176479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2061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05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Run report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05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 tabs extracted manually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924" y="2039112"/>
            <a:ext cx="73152" cy="7315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03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4"/>
          <p:cNvSpPr/>
          <p:nvPr/>
        </p:nvSpPr>
        <p:spPr>
          <a:xfrm>
            <a:off x="3204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5"/>
          <p:cNvSpPr/>
          <p:nvPr/>
        </p:nvSpPr>
        <p:spPr>
          <a:xfrm>
            <a:off x="3204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948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Review rows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948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Finance checks each job</a:t>
            </a:r>
            <a:endParaRPr lang="en-US" sz="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924" y="2039112"/>
            <a:ext cx="73152" cy="7315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046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19"/>
          <p:cNvSpPr/>
          <p:nvPr/>
        </p:nvSpPr>
        <p:spPr>
          <a:xfrm>
            <a:off x="4347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0"/>
          <p:cNvSpPr/>
          <p:nvPr/>
        </p:nvSpPr>
        <p:spPr>
          <a:xfrm>
            <a:off x="4347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091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Email ops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091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Query sent per operator</a:t>
            </a:r>
            <a:endParaRPr lang="en-US" sz="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2039112"/>
            <a:ext cx="73152" cy="7315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189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Shape 24"/>
          <p:cNvSpPr/>
          <p:nvPr/>
        </p:nvSpPr>
        <p:spPr>
          <a:xfrm>
            <a:off x="5490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5"/>
          <p:cNvSpPr/>
          <p:nvPr/>
        </p:nvSpPr>
        <p:spPr>
          <a:xfrm>
            <a:off x="5490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234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Chase replies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234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Follow-up if no response</a:t>
            </a:r>
            <a:endParaRPr lang="en-US" sz="8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2039112"/>
            <a:ext cx="73152" cy="7315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332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Shape 29"/>
          <p:cNvSpPr/>
          <p:nvPr/>
        </p:nvSpPr>
        <p:spPr>
          <a:xfrm>
            <a:off x="6633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0"/>
          <p:cNvSpPr/>
          <p:nvPr/>
        </p:nvSpPr>
        <p:spPr>
          <a:xfrm>
            <a:off x="6633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6377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Log responses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377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Update spreadsheet manually</a:t>
            </a:r>
            <a:endParaRPr lang="en-US" sz="8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039112"/>
            <a:ext cx="73152" cy="7315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7475220" y="1691640"/>
            <a:ext cx="105156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Shape 34"/>
          <p:cNvSpPr/>
          <p:nvPr/>
        </p:nvSpPr>
        <p:spPr>
          <a:xfrm>
            <a:off x="7776972" y="176479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35"/>
          <p:cNvSpPr/>
          <p:nvPr/>
        </p:nvSpPr>
        <p:spPr>
          <a:xfrm>
            <a:off x="7776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7520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Sign off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7520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Finance closes the report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365760" y="2926080"/>
            <a:ext cx="201168" cy="20116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39"/>
          <p:cNvSpPr/>
          <p:nvPr/>
        </p:nvSpPr>
        <p:spPr>
          <a:xfrm>
            <a:off x="603504" y="29169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Manual / time-consuming steps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41"/>
          <p:cNvSpPr/>
          <p:nvPr/>
        </p:nvSpPr>
        <p:spPr>
          <a:xfrm>
            <a:off x="64008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Key pain points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640080" y="373075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No central tracking — responses via email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High volume of consolidation jobs that are benign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Operators queried without job context provided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Finance chases manually — no escalation automation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5029200" y="3429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97706"/>
                </a:solidFill>
              </a:rPr>
              <a:t>~4–6 hrs</a:t>
            </a:r>
            <a:endParaRPr lang="en-US" sz="4800" dirty="0"/>
          </a:p>
        </p:txBody>
      </p:sp>
      <p:sp>
        <p:nvSpPr>
          <p:cNvPr id="52" name="Text 44"/>
          <p:cNvSpPr/>
          <p:nvPr/>
        </p:nvSpPr>
        <p:spPr>
          <a:xfrm>
            <a:off x="502920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estimated finance time per 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managing this report manually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0"/>
                </a:solidFill>
              </a:rPr>
              <a:t>Two complementary options — best used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160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1605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Option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Agent Query Workflow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Report is dropped into the EOM Agent. Agent triages jobs, auto-resolves known patterns, and sends in-app queries to operators for unexplained variances.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Auto-triage on ingest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In-app operator query (like AP invoices)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Finance has real-time visibility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48-hr escalation to Ops Manager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Full audit trail per job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719072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09160" y="1600200"/>
            <a:ext cx="4160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4709160" y="1600200"/>
            <a:ext cx="4160520" cy="45720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4846320" y="1627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A896"/>
                </a:solidFill>
              </a:rPr>
              <a:t>Option 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Billing Screen P&amp;L Reasons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When a CMP/CLS job is re-opened for retrospective costs, operators must select a P&amp;L reason. Agent reads this field at month-end and auto-resolves jobs with a valid reason.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38328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Point-of-entry capture (billing screen)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Dropdown: accrued incorrectly, unbillable charges, consolidation parent, FX variance…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Consolidation jobs auto-suppressed (already proven)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Blank reason field triggers Option A query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Zero extra effort for resolved jobs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19072"/>
            <a:ext cx="320040" cy="320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6"/>
          <p:cNvSpPr/>
          <p:nvPr/>
        </p:nvSpPr>
        <p:spPr>
          <a:xfrm>
            <a:off x="411480" y="483717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Recommended: combine both. Option B captures at source; Option A catches anything that slips through at month-end.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AGENT WORKFLOW — OPTION 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" y="146304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024128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033272"/>
            <a:ext cx="777240" cy="2286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960120" y="1033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automated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828800" y="960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Report ingested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12344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EOM Agent receives the Negative Movement Excel export. All 3 tabs parsed and normalised automatically.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" y="2267712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20040" y="17647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82880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0120" y="1837944"/>
            <a:ext cx="777240" cy="2286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1"/>
          <p:cNvSpPr/>
          <p:nvPr/>
        </p:nvSpPr>
        <p:spPr>
          <a:xfrm>
            <a:off x="960120" y="18379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automated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828800" y="1764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AI triage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828800" y="20391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Classifies each job. Auto-resolves consolidation parents, FX variances below threshold, and jobs with existing P&amp;L reasons.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12064" y="3072384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5"/>
          <p:cNvSpPr/>
          <p:nvPr/>
        </p:nvSpPr>
        <p:spPr>
          <a:xfrm>
            <a:off x="320040" y="2569464"/>
            <a:ext cx="457200" cy="457200"/>
          </a:xfrm>
          <a:prstGeom prst="ellipse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633472"/>
            <a:ext cx="320040" cy="3200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60120" y="2642616"/>
            <a:ext cx="777240" cy="2286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7"/>
          <p:cNvSpPr/>
          <p:nvPr/>
        </p:nvSpPr>
        <p:spPr>
          <a:xfrm>
            <a:off x="960120" y="264261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operator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828800" y="25694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Operator notified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828800" y="284378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Assigned operator receives an in-app query with job context and a reason dropdown.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12064" y="3877056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1"/>
          <p:cNvSpPr/>
          <p:nvPr/>
        </p:nvSpPr>
        <p:spPr>
          <a:xfrm>
            <a:off x="320040" y="3374136"/>
            <a:ext cx="457200" cy="457200"/>
          </a:xfrm>
          <a:prstGeom prst="ellipse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438144"/>
            <a:ext cx="320040" cy="32004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0120" y="3447288"/>
            <a:ext cx="777240" cy="2286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3"/>
          <p:cNvSpPr/>
          <p:nvPr/>
        </p:nvSpPr>
        <p:spPr>
          <a:xfrm>
            <a:off x="960120" y="34472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operator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828800" y="3374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Operator responds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828800" y="36484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Operator selects a P&amp;L reason or adds free-text. CMP/CLS jobs needing cost adjustments trigger a re-open request.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20040" y="4178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4242816"/>
            <a:ext cx="320040" cy="3200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60120" y="4251960"/>
            <a:ext cx="777240" cy="2286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28"/>
          <p:cNvSpPr/>
          <p:nvPr/>
        </p:nvSpPr>
        <p:spPr>
          <a:xfrm>
            <a:off x="96012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automated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1828800" y="4178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Finance dashboard live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828800" y="44531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All responses visible to finance and management in real time. Unresolved items auto-escalate to Ops Manager after 48 hrs.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APRIL 2026 — SY1 DATA SNAPSHOT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0"/>
                </a:solidFill>
              </a:rPr>
              <a:t>Live data from the April 2026 Negative Movement Report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-$16,390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Total negative movement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42316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+$21,357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Excess profit flagged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-$1,136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Jobs with losses (closed)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72084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5 / 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Agent resolved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7132320" cy="2194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Job number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S00172835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FLIGHTSYD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USSAV→AUSYD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-$8,411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Auto-resolved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B00031299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HONAUSSYD1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TWKHH→AUMEL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IHL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-$3,802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Auto-resolved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S00167064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DYWSYSNTL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INMUN→AUSYD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LCL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-$2,061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Awaiting operator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B00030462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BTLMEDSYD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ATVIE→AUSYD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AIR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-$728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Awaiting operator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S00170782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JAMHARSYD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AUBNE→AUFRE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-$446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</a:rPr>
                        <a:t>Consolidation — auto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S00171637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BOAMOR_AU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DEHAM→AUSYD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IHL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-$410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Auto-resolved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S00172205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SURBLASYD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AUSYD→AUFRE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-$251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</a:rPr>
                        <a:t>Consolidation — auto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P&amp;L REASON FIELD — OPTION B IN DETAIL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0"/>
                </a:solidFill>
              </a:rPr>
              <a:t>How the billing screen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1.  Operations re-open a CMP or CLS job to add retrospective costs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2.  Billing screen requires a P&amp;L reason before costs can be posted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3.  Operator selects from a controlled dropdown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4.  EOM Agent reads the reason field at month-end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5.  Jobs with valid reasons are auto-resolved — no finance query needed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6.  Blank reasons trigger an automatic in-app query (Option 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4069080"/>
            <a:ext cx="4023360" cy="7772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Already proven — consolidation shipments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The consolidation parent job pattern was resolved this way a year ago and dramatically reduced report volume.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0"/>
                </a:solidFill>
              </a:rPr>
              <a:t>Reason dropdown options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4754880" y="1417320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4919472" y="1453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Accrued incorrectly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19472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Accrual posted at incorrect value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1984248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4754880" y="1984248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919472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Additional unbillable charges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19472" y="22585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Costs incurred that cannot be recovered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4880" y="2551176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4754880" y="2551176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919472" y="2587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Consolidation parent job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19472" y="28254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Child costs rolled to parent — auto-suppress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0" y="3118104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21"/>
          <p:cNvSpPr/>
          <p:nvPr/>
        </p:nvSpPr>
        <p:spPr>
          <a:xfrm>
            <a:off x="4754880" y="3118104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4919472" y="3154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Exchange rate variance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19472" y="3392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FX movement since accrual date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3685032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Shape 25"/>
          <p:cNvSpPr/>
          <p:nvPr/>
        </p:nvSpPr>
        <p:spPr>
          <a:xfrm>
            <a:off x="4754880" y="3685032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6"/>
          <p:cNvSpPr/>
          <p:nvPr/>
        </p:nvSpPr>
        <p:spPr>
          <a:xfrm>
            <a:off x="4919472" y="3721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Dispute — awaiting credit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19472" y="3959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Vendor dispute in progress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4251960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hape 29"/>
          <p:cNvSpPr/>
          <p:nvPr/>
        </p:nvSpPr>
        <p:spPr>
          <a:xfrm>
            <a:off x="4754880" y="4251960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0"/>
          <p:cNvSpPr/>
          <p:nvPr/>
        </p:nvSpPr>
        <p:spPr>
          <a:xfrm>
            <a:off x="4919472" y="4288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Other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919472" y="4526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Free-text comment required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Benefits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Manual effort eliminated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68680" y="1307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Finance no longer downloads, emails, or chases responses. Agent does it all.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1488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Real-time visibility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68680" y="23134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Finance sees every operator response as it's submitted — no spreadsheet reconciliation.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54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Audit trail per job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68680" y="33192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Every query, response, and resolution is logged automatically against the job.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16052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Faster close process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68680" y="4325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Auto-resolution of known patterns reduces the backlog from 8 to ~3 jobs per month.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937760" y="365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4937760" y="103327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2"/>
          <p:cNvSpPr/>
          <p:nvPr/>
        </p:nvSpPr>
        <p:spPr>
          <a:xfrm>
            <a:off x="4937760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960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 to CargoWise data source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94960" y="12710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Automate report ingest — no manual export required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937760" y="181051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6"/>
          <p:cNvSpPr/>
          <p:nvPr/>
        </p:nvSpPr>
        <p:spPr>
          <a:xfrm>
            <a:off x="493776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94960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 Sales codes to operators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94960" y="20482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Link Sales codes to staff user IDs for auto-routing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937760" y="258775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0"/>
          <p:cNvSpPr/>
          <p:nvPr/>
        </p:nvSpPr>
        <p:spPr>
          <a:xfrm>
            <a:off x="493776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94960" y="2514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 P&amp;L reason dropdown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94960" y="28254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Finalise controlled list with Ops and Finance sign-off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937760" y="336499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4"/>
          <p:cNvSpPr/>
          <p:nvPr/>
        </p:nvSpPr>
        <p:spPr>
          <a:xfrm>
            <a:off x="49377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9496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Configure escalation rules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394960" y="36027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 48-hr auto-escalation to Ops Manager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937760" y="414223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28"/>
          <p:cNvSpPr/>
          <p:nvPr/>
        </p:nvSpPr>
        <p:spPr>
          <a:xfrm>
            <a:off x="493776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39496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with SY1 branch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394960" y="43799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Run parallel for one month to validate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8" name="Text 3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EOM Agent — Negative Movement Module · Proof of Concept · Branch SY1 ·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968</Words>
  <Application>Microsoft Office PowerPoint</Application>
  <PresentationFormat>On-screen Show (16:9)</PresentationFormat>
  <Paragraphs>210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Negative Movement Report — AI Agent PoC</dc:title>
  <dc:subject>PptxGenJS Presentation</dc:subject>
  <dc:creator>PptxGenJS</dc:creator>
  <cp:lastModifiedBy>Joe Di Monaco</cp:lastModifiedBy>
  <cp:revision>2</cp:revision>
  <dcterms:created xsi:type="dcterms:W3CDTF">2026-06-01T05:00:10Z</dcterms:created>
  <dcterms:modified xsi:type="dcterms:W3CDTF">2026-06-05T00:34:06Z</dcterms:modified>
</cp:coreProperties>
</file>