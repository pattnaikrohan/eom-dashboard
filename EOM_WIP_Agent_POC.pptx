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AU" sz="1100" b="0" i="0" u="none" strike="noStrike">
                <a:solidFill>
                  <a:srgbClr val="0D1B3E"/>
                </a:solidFill>
                <a:latin typeface="Arial"/>
              </a:rPr>
              <a:t>WIP by Operator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WIP ($)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Sean De Asis</c:v>
                </c:pt>
                <c:pt idx="1">
                  <c:v>Jennifer Garces</c:v>
                </c:pt>
                <c:pt idx="2">
                  <c:v>Nicole Bilson</c:v>
                </c:pt>
                <c:pt idx="3">
                  <c:v>Nataly Daza</c:v>
                </c:pt>
                <c:pt idx="4">
                  <c:v>William Chan</c:v>
                </c:pt>
                <c:pt idx="5">
                  <c:v>Anthony Cull</c:v>
                </c:pt>
                <c:pt idx="6">
                  <c:v>Ivy Wong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95234</c:v>
                </c:pt>
                <c:pt idx="1">
                  <c:v>52108</c:v>
                </c:pt>
                <c:pt idx="2">
                  <c:v>14287</c:v>
                </c:pt>
                <c:pt idx="3">
                  <c:v>9845</c:v>
                </c:pt>
                <c:pt idx="4">
                  <c:v>4378</c:v>
                </c:pt>
                <c:pt idx="5">
                  <c:v>493</c:v>
                </c:pt>
                <c:pt idx="6">
                  <c:v>1259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AD-4ED9-B8B4-8A86C25F06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12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1D4ED8">
              <a:alpha val="18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1828800" cy="1828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498080" y="3474720"/>
            <a:ext cx="1280160" cy="128016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PROOF OF CONCEPT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EOM WIP</a:t>
            </a:r>
            <a:endParaRPr lang="en-US" sz="5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End-of-Month Management Tool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Freight Forwarding Operations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</a:rPr>
              <a:t>MEL Branch  ·  Confidential  ·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3C5FD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End-of-Month WIP Reviews: A Manual Burden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Consuming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managers spend 4–6 hours manually reviewing WIP reports each EOM cycle across spreadsheets.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Error Prone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miss exceptions. Negative margins, revenue shortfalls and missing reps go undetected.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No Consistency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applies different standards. No standardised rules across the business for flagging issues.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Follow-Up Lag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issues and drafting operator emails is a separate manual process, adding further delay.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D4ED8">
              <a:alpha val="18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EOM WIP Agent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web-based tool that automates exception detection, AI-driven analysis,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operator communication — deployable to every branch.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2651760" cy="265176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697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" y="312724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analyses all WIP jobs, identifies exceptions and answers natural language questions in seconds.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2057400"/>
            <a:ext cx="2651760" cy="265176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154680" y="2148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54680" y="2697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Flagging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64408" y="312724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business rules automatically flag cost overruns, revenue shortfalls and other anomalies.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2057400"/>
            <a:ext cx="2651760" cy="265176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989320" y="2148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⬇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89320" y="2697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Export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9048" y="312724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Excel export with per-operator tabs, sorted by WIP, with red highlighting for zero-revenue jobs.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3C5FD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EOM Agent Delivers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75488" cy="475488"/>
          </a:xfrm>
          <a:prstGeom prst="ellipse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branch WIP .xlsx or .csv export. Auto-detects all column formats.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475488" cy="475488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13441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Flagging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562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cost &gt; $39, revenue &lt; cost, revenue &lt; P&amp;L. Colour-coded critical vs warning.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475488" cy="475488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17220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13441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8562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questions. Get instant answers, summaries and recommendations.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11480" y="3200400"/>
            <a:ext cx="475488" cy="47548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11480" y="3200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21868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7307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cards, dept/rep summaries, filterable job table with status filters.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3291840" y="3200400"/>
            <a:ext cx="475488" cy="47548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3291840" y="3200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321868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7307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tab per operator. Sorted by WIP desc. Red font on $0 revenue rows.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172200" y="3200400"/>
            <a:ext cx="475488" cy="475488"/>
          </a:xfrm>
          <a:prstGeom prst="ellipse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6172200" y="3200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✉️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0840" y="321868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7307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agent to draft operator follow-up emails for flagged jobs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7373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BUSINESS RULES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Exception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applied automatically on upload and drive all flagging, AI analysis and Excel exports.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777240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914400" cy="21945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🔴 CRITICAL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45920" y="1883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Cost Exceeds Threshold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4592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job where absolute Cost (Col I) exceeds $39.00. Threshold is configurable.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777240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594360" y="2862072"/>
            <a:ext cx="914400" cy="21945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594360" y="2862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🔴 CRITICAL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45920" y="28437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Revenue Less Than Cost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4592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job where Revenue (Col J) is less than Cost (Col I). Indicates a loss-making job.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777240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594360" y="3822192"/>
            <a:ext cx="914400" cy="21945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94360" y="3822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🟡 WARNING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4592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— Revenue Less Than Profit/Loss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64592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job where Revenue (Col J) is less than Profit/Loss (Col K). Signals a data discrepancy.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rules can be configured per branch to reflect local business requirements.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3C5FD"/>
                </a:solidFill>
              </a:rPr>
              <a:t>POC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MEL Branch — March 2026 WIP Run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6002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7556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109728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965960" y="1097280"/>
            <a:ext cx="1600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96596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$180,474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17556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03320" y="109728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703320" y="1097280"/>
            <a:ext cx="1600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70332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$430,173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03320" y="17556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0680" y="109728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440680" y="1097280"/>
            <a:ext cx="16002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44068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jobs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17556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Flagged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78040" y="109728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7178040" y="1097280"/>
            <a:ext cx="1600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17804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jobs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17556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Flagged</a:t>
            </a:r>
            <a:endParaRPr lang="en-US" sz="9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2423160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57607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Status Breakdown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760720" y="2834640"/>
            <a:ext cx="3108960" cy="38404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5"/>
          <p:cNvSpPr/>
          <p:nvPr/>
        </p:nvSpPr>
        <p:spPr>
          <a:xfrm>
            <a:off x="5897880" y="28712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WRK — In Progress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589520" y="287121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(60%)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760720" y="3337560"/>
            <a:ext cx="3108960" cy="384048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8"/>
          <p:cNvSpPr/>
          <p:nvPr/>
        </p:nvSpPr>
        <p:spPr>
          <a:xfrm>
            <a:off x="5897880" y="33741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— Invoiced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589520" y="33741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(17%)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760720" y="3840480"/>
            <a:ext cx="3108960" cy="38404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1"/>
          <p:cNvSpPr/>
          <p:nvPr/>
        </p:nvSpPr>
        <p:spPr>
          <a:xfrm>
            <a:off x="5897880" y="38770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IHL — On Hold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589520" y="387705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(17%)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760720" y="4343400"/>
            <a:ext cx="3108960" cy="38404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4"/>
          <p:cNvSpPr/>
          <p:nvPr/>
        </p:nvSpPr>
        <p:spPr>
          <a:xfrm>
            <a:off x="5897880" y="43799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— Completed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589520" y="437997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( 6%)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4-Step EOM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32461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D4ED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WIP 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41071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WIP report from your freight system as .xlsx. Upload to the agent — data loads instantly.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3017520"/>
            <a:ext cx="914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450592" y="1417320"/>
            <a:ext cx="2011680" cy="32461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136392" y="15544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136392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0592" y="2331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42032" y="2907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Flag Exceptions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41071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65 jobs are scanned against business rules. Exceptions flagged as Critical or Warning immediately.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07992" y="3017520"/>
            <a:ext cx="9144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626864" y="1417320"/>
            <a:ext cx="2011680" cy="32461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5312664" y="15544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31266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26864" y="2331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18304" y="2907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&amp;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341071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the AI agent. Ask for a full review, drill into specific jobs, or request a summary by rep.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84264" y="301752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6803136" y="1417320"/>
            <a:ext cx="2011680" cy="32461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7488936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74889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03136" y="2331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⬇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94576" y="2907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Distribute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2864" y="341071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Excel with one tab per operator, sorted by WIP. Share directly with the team for action.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3C5FD"/>
                </a:solidFill>
              </a:rPr>
              <a:t>ROLLOUT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Scaling to the Entire Business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97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— MEL Branch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Branch live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business rules active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0998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file upload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29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+ Excel export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154680" y="1097280"/>
            <a:ext cx="26974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154680" y="1097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4680" y="13350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Q3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Select Branches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240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pilot branches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6700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Branch-specific rule sets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0998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&amp; permissions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3529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035040" y="109728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035040" y="1097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13350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Q4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Rollout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240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onboarded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26700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WIP feed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30998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529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demonstrates feasibility. With developer support, a production-grade version can be standardised for all branches, delivering consistent and efficient EOM management across the entire business.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21031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D1F"/>
                </a:solidFill>
              </a:rPr>
              <a:t>DEVELOPER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Build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D4ED8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64008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application with responsive layout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selection and user authentication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331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with column auto-mapping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606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job data table with filtering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411480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6400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782312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2312" y="1783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layer for AI model integration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82312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data storage per branch per period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82312" y="2331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— configurable per branch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82312" y="2606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generation &amp; send capability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11480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8912" y="3246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566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integration via Anthropic API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840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freight domain context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4114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WIP trend analysis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4389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exception report generation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3154680"/>
            <a:ext cx="411480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4617720" y="315468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782312" y="3246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3566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hosted (AWS / Azure)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82312" y="3840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operator / manager / admin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82312" y="4114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all EOM reviews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82312" y="4389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 and PDF formats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>
              <a:alpha val="60000"/>
            </a:srgbClr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200400" y="45720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200400" y="4626864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</a:t>
            </a:r>
            <a:endParaRPr lang="en-US" sz="4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2286000" y="296265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28600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70048" y="29260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POC demo with the development team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36499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28600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70048" y="33284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scope, branch requirements and rule sets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376732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28600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0048" y="37307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production-grade version (Phase 2 pilot)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416966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228600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0048" y="41330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all branches with centralised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MEL Branch  ·  EOM WIP Review Agent  ·  Proof of Concept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EOM WIP Agent – Proof of Concept</dc:title>
  <dc:subject>PptxGenJS Presentation</dc:subject>
  <dc:creator>PptxGenJS</dc:creator>
  <cp:lastModifiedBy>Joe Di Monaco</cp:lastModifiedBy>
  <cp:revision>1</cp:revision>
  <dcterms:created xsi:type="dcterms:W3CDTF">2026-03-31T22:35:14Z</dcterms:created>
  <dcterms:modified xsi:type="dcterms:W3CDTF">2026-03-31T22:48:29Z</dcterms:modified>
</cp:coreProperties>
</file>